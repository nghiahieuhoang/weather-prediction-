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embeddedFontLst>
    <p:embeddedFont>
      <p:font typeface="Arimo" panose="020B0604020202020204" pitchFamily="34" charset="0"/>
      <p:regular r:id="rId7"/>
    </p:embeddedFont>
    <p:embeddedFont>
      <p:font typeface="Syne Bold" pitchFamily="2" charset="77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933"/>
    <a:srgbClr val="101D33"/>
    <a:srgbClr val="0E182A"/>
    <a:srgbClr val="162541"/>
    <a:srgbClr val="0E17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983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440433"/>
            <a:ext cx="466784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Powering the Future: Mastering IoT with ESP32-A1S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984822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hands-on exploration of embedded systems, smart hardware, and the Arduino ecosystem — from first power-on to cloud-connected intelligence.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25438"/>
            <a:ext cx="4667845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Toolkit: Essential Hardware Components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523577" y="1163166"/>
            <a:ext cx="4667845" cy="819894"/>
          </a:xfrm>
          <a:prstGeom prst="roundRect">
            <a:avLst>
              <a:gd name="adj" fmla="val 1711"/>
            </a:avLst>
          </a:prstGeom>
          <a:solidFill>
            <a:srgbClr val="2B2952"/>
          </a:solidFill>
          <a:ln/>
        </p:spPr>
      </p:sp>
      <p:sp>
        <p:nvSpPr>
          <p:cNvPr id="5" name="Shape 2"/>
          <p:cNvSpPr/>
          <p:nvPr/>
        </p:nvSpPr>
        <p:spPr>
          <a:xfrm>
            <a:off x="617041" y="1256630"/>
            <a:ext cx="280467" cy="280467"/>
          </a:xfrm>
          <a:prstGeom prst="roundRect">
            <a:avLst>
              <a:gd name="adj" fmla="val 20374691"/>
            </a:avLst>
          </a:prstGeom>
          <a:solidFill>
            <a:srgbClr val="8061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134" y="1333723"/>
            <a:ext cx="126206" cy="1262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041" y="1595512"/>
            <a:ext cx="1100063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ESP32-A1S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617041" y="1768004"/>
            <a:ext cx="448091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Dual-core Wi-Fi/BT module with integrated voice codec and PSRAM for high-performance embedded tasks.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23577" y="2041475"/>
            <a:ext cx="4667845" cy="819894"/>
          </a:xfrm>
          <a:prstGeom prst="roundRect">
            <a:avLst>
              <a:gd name="adj" fmla="val 1711"/>
            </a:avLst>
          </a:prstGeom>
          <a:solidFill>
            <a:srgbClr val="2B2952"/>
          </a:solidFill>
          <a:ln/>
        </p:spPr>
      </p:sp>
      <p:sp>
        <p:nvSpPr>
          <p:cNvPr id="10" name="Shape 6"/>
          <p:cNvSpPr/>
          <p:nvPr/>
        </p:nvSpPr>
        <p:spPr>
          <a:xfrm>
            <a:off x="617041" y="2134939"/>
            <a:ext cx="280467" cy="280467"/>
          </a:xfrm>
          <a:prstGeom prst="roundRect">
            <a:avLst>
              <a:gd name="adj" fmla="val 20374691"/>
            </a:avLst>
          </a:prstGeom>
          <a:solidFill>
            <a:srgbClr val="8061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134" y="2212032"/>
            <a:ext cx="126206" cy="1262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7041" y="2473821"/>
            <a:ext cx="1100063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LCD 1602 I2C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617041" y="2646313"/>
            <a:ext cx="448091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Efficient 2-line character display for real-time data visualization with minimal wiring.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523577" y="2919785"/>
            <a:ext cx="4667845" cy="819894"/>
          </a:xfrm>
          <a:prstGeom prst="roundRect">
            <a:avLst>
              <a:gd name="adj" fmla="val 1711"/>
            </a:avLst>
          </a:prstGeom>
          <a:solidFill>
            <a:srgbClr val="2B2952"/>
          </a:solidFill>
          <a:ln/>
        </p:spPr>
      </p:sp>
      <p:sp>
        <p:nvSpPr>
          <p:cNvPr id="15" name="Shape 10"/>
          <p:cNvSpPr/>
          <p:nvPr/>
        </p:nvSpPr>
        <p:spPr>
          <a:xfrm>
            <a:off x="617041" y="3013249"/>
            <a:ext cx="280467" cy="280467"/>
          </a:xfrm>
          <a:prstGeom prst="roundRect">
            <a:avLst>
              <a:gd name="adj" fmla="val 20374691"/>
            </a:avLst>
          </a:prstGeom>
          <a:solidFill>
            <a:srgbClr val="8061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134" y="3090342"/>
            <a:ext cx="126206" cy="1262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7041" y="3352130"/>
            <a:ext cx="1331342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Mainboard Protection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617041" y="3524622"/>
            <a:ext cx="448091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Critical 5V circuit safeguards to prevent over-voltage damage and ensure hardware longevity.</a:t>
            </a:r>
            <a:endParaRPr lang="en-US" sz="700" dirty="0"/>
          </a:p>
        </p:txBody>
      </p:sp>
      <p:sp>
        <p:nvSpPr>
          <p:cNvPr id="19" name="Shape 13"/>
          <p:cNvSpPr/>
          <p:nvPr/>
        </p:nvSpPr>
        <p:spPr>
          <a:xfrm>
            <a:off x="523577" y="3798094"/>
            <a:ext cx="4667845" cy="819894"/>
          </a:xfrm>
          <a:prstGeom prst="roundRect">
            <a:avLst>
              <a:gd name="adj" fmla="val 1711"/>
            </a:avLst>
          </a:prstGeom>
          <a:solidFill>
            <a:srgbClr val="2B2952"/>
          </a:solidFill>
          <a:ln/>
        </p:spPr>
      </p:sp>
      <p:sp>
        <p:nvSpPr>
          <p:cNvPr id="20" name="Shape 14"/>
          <p:cNvSpPr/>
          <p:nvPr/>
        </p:nvSpPr>
        <p:spPr>
          <a:xfrm>
            <a:off x="617041" y="3891558"/>
            <a:ext cx="280467" cy="280467"/>
          </a:xfrm>
          <a:prstGeom prst="roundRect">
            <a:avLst>
              <a:gd name="adj" fmla="val 20374691"/>
            </a:avLst>
          </a:prstGeom>
          <a:solidFill>
            <a:srgbClr val="8061FF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4134" y="3968651"/>
            <a:ext cx="126206" cy="12620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7041" y="4230439"/>
            <a:ext cx="1100063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Dupont Wires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17041" y="4402931"/>
            <a:ext cx="448091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Reliable modular connectors for rapid prototyping and clean breadboard connections.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81918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Ecosystem: Bridging Hardware and Code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59226" y="1835869"/>
            <a:ext cx="275607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Development Workflow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2205410"/>
            <a:ext cx="386595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Arduino IDE streamlines every step — from driver installation to final firmware upload. By integrating official ESP32-A1S technical documentation, you unlock full access to its peripheral capabilities.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53333" y="1835869"/>
            <a:ext cx="3865959" cy="1062112"/>
          </a:xfrm>
          <a:prstGeom prst="roundRect">
            <a:avLst>
              <a:gd name="adj" fmla="val 2113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09" y="2019408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8097" y="1945853"/>
            <a:ext cx="323024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I2C communication reduces wiring complexity to just two signal lines (SDA + SCL) between the ESP32 and the LCD display.</a:t>
            </a:r>
            <a:endParaRPr lang="en-US" sz="1150" dirty="0"/>
          </a:p>
        </p:txBody>
      </p:sp>
      <p:sp>
        <p:nvSpPr>
          <p:cNvPr id="9" name="Terminator 8">
            <a:extLst>
              <a:ext uri="{FF2B5EF4-FFF2-40B4-BE49-F238E27FC236}">
                <a16:creationId xmlns:a16="http://schemas.microsoft.com/office/drawing/2014/main" id="{8E760248-E964-7D65-7565-C730EA5E2C6A}"/>
              </a:ext>
            </a:extLst>
          </p:cNvPr>
          <p:cNvSpPr/>
          <p:nvPr/>
        </p:nvSpPr>
        <p:spPr>
          <a:xfrm>
            <a:off x="7943273" y="4821382"/>
            <a:ext cx="1200727" cy="322118"/>
          </a:xfrm>
          <a:prstGeom prst="flowChartTerminator">
            <a:avLst/>
          </a:prstGeom>
          <a:solidFill>
            <a:srgbClr val="0B0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9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11435"/>
            <a:ext cx="4667845" cy="811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Vision: Building Intelligent Hardware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27" y="1413421"/>
            <a:ext cx="4686895" cy="10216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7667" y="1570360"/>
            <a:ext cx="1622599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🎯</a:t>
            </a: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Purpose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737667" y="1854250"/>
            <a:ext cx="4296817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Transform raw sensor data into actionable insights through localized, low-power embedded systems.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27" y="2562151"/>
            <a:ext cx="4686895" cy="10216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7667" y="2719090"/>
            <a:ext cx="1622599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🔌</a:t>
            </a: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Scalability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737667" y="3002979"/>
            <a:ext cx="4296817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Leverage the ESP32's rich peripheral set — ADC, DAC, PWM, and GPIO — to expand functionality over time.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27" y="3710880"/>
            <a:ext cx="4686895" cy="10216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7667" y="3867820"/>
            <a:ext cx="1622599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🚀</a:t>
            </a: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Get Started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737667" y="4151709"/>
            <a:ext cx="4296817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Begin with a 5V power test, verify I2C communication on the LCD, then bridge your prototype to the cloud.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234</Words>
  <Application>Microsoft Macintosh PowerPoint</Application>
  <PresentationFormat>On-screen Show (16:9)</PresentationFormat>
  <Paragraphs>26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Syne Bold</vt:lpstr>
      <vt:lpstr>Arial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Tuấn Hồ Quang</cp:lastModifiedBy>
  <cp:revision>2</cp:revision>
  <dcterms:created xsi:type="dcterms:W3CDTF">2026-06-17T08:14:00Z</dcterms:created>
  <dcterms:modified xsi:type="dcterms:W3CDTF">2026-06-17T08:20:19Z</dcterms:modified>
</cp:coreProperties>
</file>