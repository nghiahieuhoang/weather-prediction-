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embeddedFontLst>
    <p:embeddedFont>
      <p:font typeface="Arimo" panose="020B0604020202020204" pitchFamily="34" charset="0"/>
      <p:regular r:id="rId7"/>
    </p:embeddedFont>
    <p:embeddedFont>
      <p:font typeface="Syne Bold" pitchFamily="2" charset="77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0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8" d="100"/>
          <a:sy n="138" d="100"/>
        </p:scale>
        <p:origin x="184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2750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52577" y="1489993"/>
            <a:ext cx="631701" cy="281136"/>
          </a:xfrm>
          <a:prstGeom prst="roundRect">
            <a:avLst>
              <a:gd name="adj" fmla="val 6386"/>
            </a:avLst>
          </a:prstGeom>
          <a:solidFill>
            <a:srgbClr val="0F004D"/>
          </a:solidFill>
          <a:ln/>
        </p:spPr>
      </p:sp>
      <p:sp>
        <p:nvSpPr>
          <p:cNvPr id="4" name="Text 1"/>
          <p:cNvSpPr/>
          <p:nvPr/>
        </p:nvSpPr>
        <p:spPr>
          <a:xfrm>
            <a:off x="4042321" y="1534864"/>
            <a:ext cx="909414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WEEK 2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3952577" y="1830958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Second Week of the Project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3952577" y="2935337"/>
            <a:ext cx="4667845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Assembly begins — sensors, microcontroller, and display come together. A critical setback teaches us the importance of voltage discipline.</a:t>
            </a:r>
            <a:endParaRPr lang="en-US" sz="1150" dirty="0"/>
          </a:p>
        </p:txBody>
      </p:sp>
      <p:sp>
        <p:nvSpPr>
          <p:cNvPr id="7" name="Terminator 6">
            <a:extLst>
              <a:ext uri="{FF2B5EF4-FFF2-40B4-BE49-F238E27FC236}">
                <a16:creationId xmlns:a16="http://schemas.microsoft.com/office/drawing/2014/main" id="{9DF6F52F-90E0-0004-72CC-251135509867}"/>
              </a:ext>
            </a:extLst>
          </p:cNvPr>
          <p:cNvSpPr/>
          <p:nvPr/>
        </p:nvSpPr>
        <p:spPr>
          <a:xfrm>
            <a:off x="7897091" y="4775200"/>
            <a:ext cx="1246909" cy="295564"/>
          </a:xfrm>
          <a:prstGeom prst="flowChartTerminator">
            <a:avLst/>
          </a:prstGeom>
          <a:solidFill>
            <a:srgbClr val="0B09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21481"/>
            <a:ext cx="4876502" cy="405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Components &amp; Materials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23577" y="1081385"/>
            <a:ext cx="8554045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All required parts for initial assembly and testing.</a:t>
            </a: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577" y="1436340"/>
            <a:ext cx="275779" cy="27577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23577" y="1870993"/>
            <a:ext cx="1622599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ESP32 A1S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23577" y="2150120"/>
            <a:ext cx="3968948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Main microcontroller for sensor integration and data processing.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51400" y="1436340"/>
            <a:ext cx="275779" cy="27577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51400" y="1870993"/>
            <a:ext cx="1622599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Rain Sensor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4651400" y="2150120"/>
            <a:ext cx="3969023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Detects precipitation for environmental monitoring.</a:t>
            </a:r>
            <a:endParaRPr lang="en-US" sz="10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577" y="2616324"/>
            <a:ext cx="275779" cy="27577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23577" y="3050977"/>
            <a:ext cx="1622599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MPU 6050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523577" y="3330104"/>
            <a:ext cx="3968948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6-axis IMU for motion and orientation sensing.</a:t>
            </a:r>
            <a:endParaRPr lang="en-US" sz="10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51400" y="2616324"/>
            <a:ext cx="275779" cy="27577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51400" y="3050977"/>
            <a:ext cx="1622599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LCD 1602 I2C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4651400" y="3330104"/>
            <a:ext cx="3969023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16×2 character display via I2C (borrowed from lecturer).</a:t>
            </a:r>
            <a:endParaRPr lang="en-US" sz="10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577" y="3796308"/>
            <a:ext cx="275779" cy="275779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23577" y="4230960"/>
            <a:ext cx="1803127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Battery &amp; Protection</a:t>
            </a:r>
            <a:endParaRPr lang="en-US" sz="1250" dirty="0"/>
          </a:p>
        </p:txBody>
      </p:sp>
      <p:sp>
        <p:nvSpPr>
          <p:cNvPr id="18" name="Text 11"/>
          <p:cNvSpPr/>
          <p:nvPr/>
        </p:nvSpPr>
        <p:spPr>
          <a:xfrm>
            <a:off x="523577" y="4510088"/>
            <a:ext cx="3968948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Rechargeable battery with 5V mainboard protection circuit.</a:t>
            </a:r>
            <a:endParaRPr lang="en-US" sz="10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51400" y="3796308"/>
            <a:ext cx="275779" cy="275779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651400" y="4230960"/>
            <a:ext cx="1803276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Breadboard &amp; Wires</a:t>
            </a:r>
            <a:endParaRPr lang="en-US" sz="1250" dirty="0"/>
          </a:p>
        </p:txBody>
      </p:sp>
      <p:sp>
        <p:nvSpPr>
          <p:cNvPr id="21" name="Text 13"/>
          <p:cNvSpPr/>
          <p:nvPr/>
        </p:nvSpPr>
        <p:spPr>
          <a:xfrm>
            <a:off x="4651400" y="4510088"/>
            <a:ext cx="3969023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Dupont wires and breadboard for prototyping (borrowed).</a:t>
            </a:r>
            <a:endParaRPr lang="en-US" sz="1050" dirty="0"/>
          </a:p>
        </p:txBody>
      </p:sp>
      <p:sp>
        <p:nvSpPr>
          <p:cNvPr id="22" name="Terminator 21">
            <a:extLst>
              <a:ext uri="{FF2B5EF4-FFF2-40B4-BE49-F238E27FC236}">
                <a16:creationId xmlns:a16="http://schemas.microsoft.com/office/drawing/2014/main" id="{64D03C88-53FC-615E-796A-8C33788D1D5B}"/>
              </a:ext>
            </a:extLst>
          </p:cNvPr>
          <p:cNvSpPr/>
          <p:nvPr/>
        </p:nvSpPr>
        <p:spPr>
          <a:xfrm>
            <a:off x="7897091" y="4775200"/>
            <a:ext cx="1246909" cy="295564"/>
          </a:xfrm>
          <a:prstGeom prst="flowChartTerminator">
            <a:avLst/>
          </a:prstGeom>
          <a:solidFill>
            <a:srgbClr val="0B09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11510"/>
            <a:ext cx="4408810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What We Set Out to Do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1390576"/>
            <a:ext cx="5151165" cy="29189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98890" y="1082725"/>
            <a:ext cx="19972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Assembly Goals</a:t>
            </a:r>
            <a:endParaRPr lang="en-US" sz="1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84602" y="1404045"/>
            <a:ext cx="2640583" cy="99000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186934" y="1549226"/>
            <a:ext cx="1675730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Connect All Sensors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186934" y="1856259"/>
            <a:ext cx="2293069" cy="392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Wire the Rain Sensor and MPU 6050 to the ESP32 A1S on the breadboard.</a:t>
            </a:r>
            <a:endParaRPr lang="en-US" sz="10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84602" y="2508572"/>
            <a:ext cx="2640583" cy="99000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186934" y="2653754"/>
            <a:ext cx="15400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Integrate the LCD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6186934" y="2960787"/>
            <a:ext cx="2293069" cy="392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Hook up the LCD 1602 I2C display to output sensor readings.</a:t>
            </a:r>
            <a:endParaRPr lang="en-US" sz="10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84602" y="3613100"/>
            <a:ext cx="2640583" cy="99000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186934" y="3758282"/>
            <a:ext cx="15400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Power Safely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6186934" y="4065315"/>
            <a:ext cx="2293069" cy="392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Recharge the battery and implement 5V protection on the mainboard.</a:t>
            </a:r>
            <a:endParaRPr lang="en-US" sz="1000" dirty="0"/>
          </a:p>
        </p:txBody>
      </p:sp>
      <p:sp>
        <p:nvSpPr>
          <p:cNvPr id="14" name="Terminator 13">
            <a:extLst>
              <a:ext uri="{FF2B5EF4-FFF2-40B4-BE49-F238E27FC236}">
                <a16:creationId xmlns:a16="http://schemas.microsoft.com/office/drawing/2014/main" id="{60FD1EE7-0B04-BCBA-1E93-64F78A06CA33}"/>
              </a:ext>
            </a:extLst>
          </p:cNvPr>
          <p:cNvSpPr/>
          <p:nvPr/>
        </p:nvSpPr>
        <p:spPr>
          <a:xfrm>
            <a:off x="7897091" y="4775200"/>
            <a:ext cx="1246909" cy="295564"/>
          </a:xfrm>
          <a:prstGeom prst="flowChartTerminator">
            <a:avLst/>
          </a:prstGeom>
          <a:solidFill>
            <a:srgbClr val="0B09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40606"/>
            <a:ext cx="4696420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Setback &amp; Recovery Plan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577" y="1111821"/>
            <a:ext cx="2110755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⚠️</a:t>
            </a:r>
            <a:r>
              <a:rPr lang="en-US" sz="12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What Happened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23577" y="1423615"/>
            <a:ext cx="3888730" cy="588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We accidentally supplied </a:t>
            </a:r>
            <a:r>
              <a:rPr lang="en-US" sz="100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12V instead of 5V</a:t>
            </a:r>
            <a:r>
              <a:rPr lang="en-US" sz="1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to the sensor circuit, burning the components. Replacement sensors have been ordered and will arrive in </a:t>
            </a:r>
            <a:r>
              <a:rPr lang="en-US" sz="100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at least one week</a:t>
            </a:r>
            <a:r>
              <a:rPr lang="en-US" sz="1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23577" y="2141339"/>
            <a:ext cx="3888730" cy="860375"/>
          </a:xfrm>
          <a:prstGeom prst="roundRect">
            <a:avLst>
              <a:gd name="adj" fmla="val 2282"/>
            </a:avLst>
          </a:prstGeom>
          <a:solidFill>
            <a:srgbClr val="4B3F0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472" y="2333179"/>
            <a:ext cx="163637" cy="1308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49003" y="2277070"/>
            <a:ext cx="3332411" cy="588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Always verify voltage levels before connecting power — a multimeter check takes seconds and saves components.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736455" y="1111821"/>
            <a:ext cx="2059484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✅</a:t>
            </a:r>
            <a:r>
              <a:rPr lang="en-US" sz="12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Moving Forward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736455" y="1437903"/>
            <a:ext cx="261789" cy="163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36455" y="1646039"/>
            <a:ext cx="3888730" cy="14288"/>
          </a:xfrm>
          <a:prstGeom prst="rect">
            <a:avLst/>
          </a:prstGeom>
          <a:solidFill>
            <a:srgbClr val="8061FF"/>
          </a:solidFill>
          <a:ln/>
        </p:spPr>
      </p:sp>
      <p:sp>
        <p:nvSpPr>
          <p:cNvPr id="11" name="Text 8"/>
          <p:cNvSpPr/>
          <p:nvPr/>
        </p:nvSpPr>
        <p:spPr>
          <a:xfrm>
            <a:off x="4736455" y="1740024"/>
            <a:ext cx="2577182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Wait for Replacement Sensors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736455" y="2047056"/>
            <a:ext cx="3888730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Use the downtime to prepare code and documentation.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736455" y="2456036"/>
            <a:ext cx="261789" cy="163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36455" y="2664172"/>
            <a:ext cx="3888730" cy="14288"/>
          </a:xfrm>
          <a:prstGeom prst="rect">
            <a:avLst/>
          </a:prstGeom>
          <a:solidFill>
            <a:srgbClr val="8061FF"/>
          </a:solidFill>
          <a:ln/>
        </p:spPr>
      </p:sp>
      <p:sp>
        <p:nvSpPr>
          <p:cNvPr id="15" name="Text 12"/>
          <p:cNvSpPr/>
          <p:nvPr/>
        </p:nvSpPr>
        <p:spPr>
          <a:xfrm>
            <a:off x="4736455" y="2758157"/>
            <a:ext cx="15400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Prepare Mini Slide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736455" y="3065190"/>
            <a:ext cx="3888730" cy="392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Build a presentation summarizing the project process and lessons learned.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736455" y="3670474"/>
            <a:ext cx="261789" cy="163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736455" y="3878610"/>
            <a:ext cx="3888730" cy="14288"/>
          </a:xfrm>
          <a:prstGeom prst="rect">
            <a:avLst/>
          </a:prstGeom>
          <a:solidFill>
            <a:srgbClr val="8061FF"/>
          </a:solidFill>
          <a:ln/>
        </p:spPr>
      </p:sp>
      <p:sp>
        <p:nvSpPr>
          <p:cNvPr id="19" name="Text 16"/>
          <p:cNvSpPr/>
          <p:nvPr/>
        </p:nvSpPr>
        <p:spPr>
          <a:xfrm>
            <a:off x="4736455" y="3972595"/>
            <a:ext cx="2166789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Finalize Source Code &amp; UI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736455" y="4279627"/>
            <a:ext cx="3888730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Complete the ESP32 firmware and LCD output interface for demo.</a:t>
            </a:r>
            <a:endParaRPr lang="en-US" sz="1000" dirty="0"/>
          </a:p>
        </p:txBody>
      </p:sp>
      <p:sp>
        <p:nvSpPr>
          <p:cNvPr id="21" name="Terminator 20">
            <a:extLst>
              <a:ext uri="{FF2B5EF4-FFF2-40B4-BE49-F238E27FC236}">
                <a16:creationId xmlns:a16="http://schemas.microsoft.com/office/drawing/2014/main" id="{635A1D4E-7E7F-5B88-7418-10187A17CABC}"/>
              </a:ext>
            </a:extLst>
          </p:cNvPr>
          <p:cNvSpPr/>
          <p:nvPr/>
        </p:nvSpPr>
        <p:spPr>
          <a:xfrm>
            <a:off x="7897091" y="4775200"/>
            <a:ext cx="1246909" cy="295564"/>
          </a:xfrm>
          <a:prstGeom prst="flowChartTerminator">
            <a:avLst/>
          </a:prstGeom>
          <a:solidFill>
            <a:srgbClr val="0B09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268</Words>
  <Application>Microsoft Macintosh PowerPoint</Application>
  <PresentationFormat>On-screen Show (16:9)</PresentationFormat>
  <Paragraphs>43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Arimo</vt:lpstr>
      <vt:lpstr>Arial</vt:lpstr>
      <vt:lpstr>Syne Bold</vt:lpstr>
      <vt:lpstr>Syne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Tuấn Hồ Quang</cp:lastModifiedBy>
  <cp:revision>2</cp:revision>
  <dcterms:created xsi:type="dcterms:W3CDTF">2026-06-17T08:25:33Z</dcterms:created>
  <dcterms:modified xsi:type="dcterms:W3CDTF">2026-06-17T08:26:26Z</dcterms:modified>
</cp:coreProperties>
</file>